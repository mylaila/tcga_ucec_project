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94c9c78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94c9c78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094c9c78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094c9c78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94c9c78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94c9c78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0f30a6c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0f30a6c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f30a6ca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f30a6ca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f30a6ca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f30a6ca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f30a6ca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0f30a6ca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246687e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246687e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246687e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246687e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246687e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246687e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246687e1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246687e1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46687e1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246687e1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36184363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3618436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3af8743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3af8743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3af87430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3af87430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3af8743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3af8743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3af8743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3af8743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3af87430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3af87430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cancer.gov/ccg/research/genome-sequencing/tcga/studied-cancers/endometrial-carcinoma-study" TargetMode="External"/><Relationship Id="rId4" Type="http://schemas.openxmlformats.org/officeDocument/2006/relationships/hyperlink" Target="https://www.cancer.gov/types/uterine" TargetMode="External"/><Relationship Id="rId5" Type="http://schemas.openxmlformats.org/officeDocument/2006/relationships/hyperlink" Target="https://www.cbioportal.org/study/summary?id=ucec_tcga_gdc" TargetMode="External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.csv.gz" TargetMode="External"/><Relationship Id="rId4" Type="http://schemas.openxmlformats.org/officeDocument/2006/relationships/hyperlink" Target="http://.csv.gz" TargetMode="External"/><Relationship Id="rId5" Type="http://schemas.openxmlformats.org/officeDocument/2006/relationships/hyperlink" Target="http://.csv.gz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380"/>
              <a:t>Neural Networks for Transcriptomic Data Analysis Projects </a:t>
            </a:r>
            <a:endParaRPr sz="43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6725" y="11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120"/>
              <a:t>Project goals</a:t>
            </a:r>
            <a:endParaRPr sz="21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156725" y="820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A</a:t>
            </a:r>
            <a:r>
              <a:rPr lang="fr" sz="1000"/>
              <a:t>nalyze and interpret transcriptomic data from TCGA subsets.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Build and test MLPs (supervised) and autoencoders (unsupervised); tune hyperparameters systematically and log runs. 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Evaluate models with appropriate metrics (e.g., ROC-AUC/F1 for classification and MSE/MAE for regression) and report uncertainty. 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Identify important variables/features and provide a biological interpretation of the results. </a:t>
            </a:r>
            <a:endParaRPr sz="1000"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156725" y="208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120"/>
              <a:t>Methods</a:t>
            </a:r>
            <a:endParaRPr sz="21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56725" y="279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Data prep: QC, normalization/standardization, train/val/test with fixed seeds.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Start simple and iterate: begin with a minimal MLP, then extend architectures; add autoencoders for representation.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Hyperparameter tuning: architecture depth/width, learning rate, regularization, early stopping; keep a structured run log.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fr" sz="1000"/>
              <a:t>Evaluate with clear metrics and document variance (CV or repeated runs) before moving to interpretation.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Deliverables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Paper (~15 pages): •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fr" sz="1400"/>
              <a:t>context, data &amp; preprocessing, methods, results, biological interpretation, limits &amp; improvements Report expected for January 11th 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Code: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fr" sz="1400"/>
              <a:t>clean git hunrepo, README with commands, environment file, data access notes, scripts/notebooks documented.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fr" sz="1400"/>
              <a:t>Code expected for January 11th 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fr" sz="1400"/>
              <a:t>Oral (20 minutes + 30 minutes of Q&amp;A):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fr" sz="1400"/>
              <a:t>clear story, fair speaking time, results and interpretation, defend choices &amp; limitations.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fr" sz="1400"/>
              <a:t>Slide expected for January 11th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fr" sz="1400"/>
              <a:t>Presentations will be made during the week of the 12thof January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 selected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website: </a:t>
            </a:r>
            <a:r>
              <a:rPr lang="fr" sz="1100" u="sng">
                <a:solidFill>
                  <a:schemeClr val="hlink"/>
                </a:solidFill>
                <a:hlinkClick r:id="rId3"/>
              </a:rPr>
              <a:t>Endometrial Carcinoma Study - NCI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website for additional info: </a:t>
            </a:r>
            <a:r>
              <a:rPr lang="fr" sz="1100" u="sng">
                <a:solidFill>
                  <a:schemeClr val="hlink"/>
                </a:solidFill>
                <a:hlinkClick r:id="rId4"/>
              </a:rPr>
              <a:t>Uterine Cancer—Patient Version - NCI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Data overview summary of TCGA: </a:t>
            </a:r>
            <a:r>
              <a:rPr lang="fr" sz="1100" u="sng">
                <a:solidFill>
                  <a:schemeClr val="hlink"/>
                </a:solidFill>
                <a:hlinkClick r:id="rId5"/>
              </a:rPr>
              <a:t>cBioPortal for Cancer Genomics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Data: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3450" y="2595550"/>
            <a:ext cx="7578977" cy="14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1470075" y="2836400"/>
            <a:ext cx="638400" cy="2955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544 patients, 545 samples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127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4870450" y="1025750"/>
            <a:ext cx="3000000" cy="2739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G</a:t>
            </a:r>
            <a:r>
              <a:rPr lang="fr" sz="1100">
                <a:solidFill>
                  <a:schemeClr val="dk1"/>
                </a:solidFill>
              </a:rPr>
              <a:t>raphes de survie</a:t>
            </a:r>
            <a:endParaRPr sz="11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fr" sz="900">
                <a:solidFill>
                  <a:schemeClr val="dk1"/>
                </a:solidFill>
              </a:rPr>
              <a:t>Overall survival :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~453 vivantes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~91 décédées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fr" sz="900">
                <a:solidFill>
                  <a:schemeClr val="dk1"/>
                </a:solidFill>
              </a:rPr>
              <a:t>Les courbes KM montrent :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une chute initiale (décès précoces),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puis un plateau long → beaucoup de patientes survivent longtemps.</a:t>
            </a:r>
            <a:endParaRPr sz="9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900">
                <a:solidFill>
                  <a:schemeClr val="dk1"/>
                </a:solidFill>
              </a:rPr>
              <a:t>→ </a:t>
            </a:r>
            <a:r>
              <a:rPr lang="fr" sz="900">
                <a:solidFill>
                  <a:schemeClr val="dk1"/>
                </a:solidFill>
              </a:rPr>
              <a:t>Il existe un sous-groupe de patientes à haut risque précoce, au sein d’une majorité à bon pronostic.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693675" y="689700"/>
            <a:ext cx="2611800" cy="329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Mutations</a:t>
            </a:r>
            <a:endParaRPr sz="11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fr" sz="900">
                <a:solidFill>
                  <a:schemeClr val="dk1"/>
                </a:solidFill>
              </a:rPr>
              <a:t>Gènes les plus mutés :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PTEN (~65%)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PIK3CA (~49%)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ARID1A (~46%)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TP53 (~37%)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fr" sz="900">
                <a:solidFill>
                  <a:schemeClr val="dk1"/>
                </a:solidFill>
              </a:rPr>
              <a:t>Large variabilité du mutation count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fr" sz="900">
                <a:solidFill>
                  <a:schemeClr val="dk1"/>
                </a:solidFill>
              </a:rPr>
              <a:t>Forte dispersion du fraction genome altered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900">
                <a:solidFill>
                  <a:schemeClr val="dk1"/>
                </a:solidFill>
              </a:rPr>
              <a:t>→ Les patientes n’ont pas toutes “le même cancer” :</a:t>
            </a:r>
            <a:br>
              <a:rPr lang="fr" sz="900">
                <a:solidFill>
                  <a:schemeClr val="dk1"/>
                </a:solidFill>
              </a:rPr>
            </a:br>
            <a:r>
              <a:rPr lang="fr" sz="900">
                <a:solidFill>
                  <a:schemeClr val="dk1"/>
                </a:solidFill>
              </a:rPr>
              <a:t> il existe plusieurs programmes biologiques distincts.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146350" y="149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2020" u="sng"/>
              <a:t>Research Question: </a:t>
            </a:r>
            <a:r>
              <a:rPr i="1" lang="fr" sz="1920"/>
              <a:t>Can the clinical evolution of a patient be predicted from the outcomes of their ten nearest neighbors in transcriptomic space?</a:t>
            </a:r>
            <a:endParaRPr i="1" sz="192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934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→ Comparer des patients entre eux dans un espace qui résume toute l’expression génique, sans écraser l’information.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Données: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X= expression RNA-seq (matrix patients x genes)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Y= clinical evolution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6335800" y="1381513"/>
            <a:ext cx="1907100" cy="1308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</a:rPr>
              <a:t>TPM → Z-score par gène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fr" sz="900">
                <a:solidFill>
                  <a:schemeClr val="dk1"/>
                </a:solidFill>
              </a:rPr>
              <a:t>Chaque gène a :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moyenne = 0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fr" sz="900">
                <a:solidFill>
                  <a:schemeClr val="dk1"/>
                </a:solidFill>
              </a:rPr>
              <a:t>écart-type = 1</a:t>
            </a:r>
            <a:br>
              <a:rPr lang="f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fr" sz="900">
                <a:solidFill>
                  <a:schemeClr val="dk1"/>
                </a:solidFill>
              </a:rPr>
              <a:t>Tous les gènes sont sur la même échelle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61508" l="0" r="79669" t="0"/>
          <a:stretch/>
        </p:blipFill>
        <p:spPr>
          <a:xfrm>
            <a:off x="3867899" y="1272726"/>
            <a:ext cx="2277424" cy="15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48350"/>
            <a:ext cx="1840275" cy="160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0275" y="3448350"/>
            <a:ext cx="3991812" cy="16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6137" y="3448350"/>
            <a:ext cx="1816228" cy="16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56421" y="2798621"/>
            <a:ext cx="1120000" cy="22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10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Methodological approach (après conseils de Tchitchek)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717325"/>
            <a:ext cx="8520600" cy="4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Data preprocessing (QC+normalisation)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EDA: PCA/UMAP/clusters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Modèles simples de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Autoencodeur pour améliorer représentation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Comparaison avant vs après AE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Ce qu’on ne prévois plus mais qui peut-être dit en perspectives: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Analyse cinétique (prédire </a:t>
            </a:r>
            <a:r>
              <a:rPr lang="fr"/>
              <a:t>l'avancée</a:t>
            </a:r>
            <a:r>
              <a:rPr lang="fr"/>
              <a:t> clinique des patients car pas assez de temps)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VAE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→ inclure les données socio (ex: race, homme/femme,...)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Etape 1: </a:t>
            </a:r>
            <a:r>
              <a:rPr i="1" lang="fr"/>
              <a:t>Y a-t-il du signal ?</a:t>
            </a:r>
            <a:endParaRPr i="1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659425" y="1152475"/>
            <a:ext cx="817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Télécharger les données sur R avec le package TCGAbiolinks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Faire le préprocess: filtrer les gènes peu exprimés, normaliser, output= matrice X (patients x gènes)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"/>
              <a:t>Exploration: faire PCA (coloration par: disease type, stage, race, UMAP (capte mieux si pas linéaire), </a:t>
            </a:r>
            <a:r>
              <a:rPr lang="fr" strike="sngStrike"/>
              <a:t>k-means sans label pour voir la formation des clusters</a:t>
            </a:r>
            <a:endParaRPr strike="sngStrike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A partir de là on peut déjà voir s’il y a de l’hétérogénéité ou pas. S’il y en a c’est bien, mais s’il y en a pas on peut justifier l’approche DL pour que plus de subtilités soient captées.</a:t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418675" y="1152475"/>
            <a:ext cx="5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✅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418675" y="1523150"/>
            <a:ext cx="5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✅</a:t>
            </a:r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418675" y="1962325"/>
            <a:ext cx="5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✅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Etape 2: </a:t>
            </a:r>
            <a:r>
              <a:rPr i="1" lang="fr" sz="2466"/>
              <a:t>est-ce qu’on peut prédire avec des méthodes simples?</a:t>
            </a:r>
            <a:endParaRPr i="1" sz="2466"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→ on peut par exemple choisir: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disease type (ex : endometrioid vs serous vs mixed)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stage bas (I–II) vs avancé (III–IV)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ensuite on fait une feature sélection basée sur un test différentiel ANOVA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on sélectionne un nombre de gènes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on fait une MLP (keras) avec input=genes selectionnés, on classifie puis on compare avec une SVM ou logic régression (grâce à l’accuracy, la F1, la stabilité CV)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output= matrice X_réduite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Etape 3: </a:t>
            </a:r>
            <a:r>
              <a:rPr i="1" lang="fr" sz="1911"/>
              <a:t>est-ce que l’autoencodeur améliore la représentation et/ou la prédiction?</a:t>
            </a:r>
            <a:endParaRPr i="1" sz="1911"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→ on entraine l’autoencodeur sans label, input= X ou X_réduit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output= encodeur-espace latent 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→ on visualise avant et après avec PCA ou UMAP sur les données bruts et sur l’espace latent Autoencodeur sur X et sur 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ensuite s’il nous reste du temps on peut encoder avec le l’espace latent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→ On fait une MLP ou kNN sur le latent 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→ et on compare aux autres modèles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22797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020"/>
              <a:t>Résultats/ figures</a:t>
            </a:r>
            <a:endParaRPr sz="40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1083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fr" sz="4420"/>
              <a:t>Etape 1: </a:t>
            </a:r>
            <a:r>
              <a:rPr b="1" i="1" lang="fr" sz="4420"/>
              <a:t>Y a-t-il du signal ?</a:t>
            </a:r>
            <a:endParaRPr b="1" i="1" sz="44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4420"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/>
              <a:t>Fichiers: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counts_samples_x_genes</a:t>
            </a:r>
            <a:r>
              <a:rPr lang="fr" u="sng">
                <a:solidFill>
                  <a:schemeClr val="hlink"/>
                </a:solidFill>
                <a:hlinkClick r:id="rId3"/>
              </a:rPr>
              <a:t>.csv.gz</a:t>
            </a:r>
            <a:r>
              <a:rPr lang="fr"/>
              <a:t> → </a:t>
            </a:r>
            <a:r>
              <a:rPr lang="fr" sz="1100">
                <a:solidFill>
                  <a:schemeClr val="dk1"/>
                </a:solidFill>
              </a:rPr>
              <a:t>lignes = </a:t>
            </a:r>
            <a:r>
              <a:rPr b="1" lang="fr" sz="1100">
                <a:solidFill>
                  <a:schemeClr val="dk1"/>
                </a:solidFill>
              </a:rPr>
              <a:t>échantillons, </a:t>
            </a:r>
            <a:r>
              <a:rPr lang="fr" sz="1100">
                <a:solidFill>
                  <a:schemeClr val="dk1"/>
                </a:solidFill>
              </a:rPr>
              <a:t>colonnes = </a:t>
            </a:r>
            <a:r>
              <a:rPr b="1" lang="fr" sz="1100">
                <a:solidFill>
                  <a:schemeClr val="dk1"/>
                </a:solidFill>
              </a:rPr>
              <a:t>gènes, </a:t>
            </a:r>
            <a:r>
              <a:rPr lang="fr" sz="1100">
                <a:solidFill>
                  <a:schemeClr val="dk1"/>
                </a:solidFill>
              </a:rPr>
              <a:t>valeurs = </a:t>
            </a:r>
            <a:r>
              <a:rPr b="1" lang="fr" sz="1100">
                <a:solidFill>
                  <a:schemeClr val="dk1"/>
                </a:solidFill>
              </a:rPr>
              <a:t>counts bruts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metadata_clinical_merged</a:t>
            </a:r>
            <a:r>
              <a:rPr lang="fr" u="sng">
                <a:solidFill>
                  <a:schemeClr val="hlink"/>
                </a:solidFill>
                <a:hlinkClick r:id="rId4"/>
              </a:rPr>
              <a:t>.csv.gz</a:t>
            </a:r>
            <a:r>
              <a:rPr lang="fr"/>
              <a:t> → </a:t>
            </a:r>
            <a:r>
              <a:rPr lang="fr" sz="1383"/>
              <a:t>une ligne par échantillon avec stage, histology, …</a:t>
            </a:r>
            <a:endParaRPr sz="138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gene_annotation</a:t>
            </a:r>
            <a:r>
              <a:rPr lang="fr" u="sng">
                <a:solidFill>
                  <a:schemeClr val="hlink"/>
                </a:solidFill>
                <a:hlinkClick r:id="rId5"/>
              </a:rPr>
              <a:t>.csv.gz</a:t>
            </a:r>
            <a:r>
              <a:rPr lang="fr"/>
              <a:t> → </a:t>
            </a:r>
            <a:r>
              <a:rPr lang="fr" sz="1400"/>
              <a:t>ensemble ID gene symbol → utilisé surtout pour interprétation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Preprocess → Quentin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525" y="2040925"/>
            <a:ext cx="30956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708425" y="1343075"/>
            <a:ext cx="28854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Data preprocess 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237900" y="68675"/>
            <a:ext cx="8520600" cy="13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Exploration:</a:t>
            </a:r>
            <a:r>
              <a:rPr lang="fr" sz="1800">
                <a:solidFill>
                  <a:schemeClr val="dk2"/>
                </a:solidFill>
              </a:rPr>
              <a:t> PCA, UMAP, k-means sans label pour voir la formation des clusters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88">
                <a:solidFill>
                  <a:schemeClr val="dk2"/>
                </a:solidFill>
              </a:rPr>
              <a:t>→ coloration par: disease type, stage, race</a:t>
            </a:r>
            <a:endParaRPr sz="1688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88">
                <a:solidFill>
                  <a:schemeClr val="dk2"/>
                </a:solidFill>
              </a:rPr>
              <a:t>→ prendre un échantillon non supervisé pour les visualisations</a:t>
            </a:r>
            <a:endParaRPr sz="1688">
              <a:solidFill>
                <a:schemeClr val="dk2"/>
              </a:solidFill>
            </a:endParaRPr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252650" y="14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disease_type</a:t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75" y="1264200"/>
            <a:ext cx="2921611" cy="2430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7659" y="1264200"/>
            <a:ext cx="2921611" cy="243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2014" y="1264200"/>
            <a:ext cx="2921609" cy="242644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352575" y="3694750"/>
            <a:ext cx="2517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</a:rPr>
              <a:t>-majoritairement endometrioid, pas de séparation nette, signal histologique pas dominant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0499" y="69203"/>
            <a:ext cx="1846300" cy="11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3372600" y="3694750"/>
            <a:ext cx="2517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</a:rPr>
              <a:t>-groupe principal endometrioid, petit groupe à gauche de serous, ici structure locale liée à l’histologie visible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6515525" y="3694750"/>
            <a:ext cx="2517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</a:rPr>
              <a:t>-séparation également bien marquée (mais attention tsne pas précis)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186250" y="7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FIGO stage</a:t>
            </a:r>
            <a:endParaRPr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4625"/>
            <a:ext cx="2328606" cy="19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4035" y="1354625"/>
            <a:ext cx="2328606" cy="1933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8438" y="1354625"/>
            <a:ext cx="2328606" cy="193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343800" y="3544550"/>
            <a:ext cx="6768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</a:rPr>
              <a:t>-pas de groupe bien défini visible ici pour les trois techniques de visualisation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13901" y="20400"/>
            <a:ext cx="1598450" cy="3943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Race</a:t>
            </a:r>
            <a:endParaRPr/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50" y="1902048"/>
            <a:ext cx="2408445" cy="2003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5577" y="1903747"/>
            <a:ext cx="2408443" cy="2000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1437" y="1900350"/>
            <a:ext cx="2412511" cy="200362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575700" y="4201700"/>
            <a:ext cx="6768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</a:rPr>
              <a:t>-pas de groupe bien défini visible ici pour les trois techniques de visualisation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8993" y="0"/>
            <a:ext cx="2545000" cy="18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