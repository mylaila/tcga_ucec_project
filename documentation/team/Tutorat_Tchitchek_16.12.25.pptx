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f5c1ac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f5c1ac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0f5c1ac8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0f5c1ac8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f5c1ac8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f5c1ac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f5c1ac8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0f5c1ac8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f5c1ac8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f5c1ac8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www.cbioportal.org/study/summary?id=ucec_tcga_gdc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Deep-Learning Tutoring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16.12.25 —</a:t>
            </a:r>
            <a:r>
              <a:rPr lang="fr"/>
              <a:t>  </a:t>
            </a:r>
            <a:r>
              <a:rPr lang="fr"/>
              <a:t>Group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344575" y="294975"/>
            <a:ext cx="48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fr" sz="1800">
                <a:solidFill>
                  <a:srgbClr val="3786C2"/>
                </a:solidFill>
                <a:highlight>
                  <a:srgbClr val="F5F5F5"/>
                </a:highlight>
              </a:rPr>
              <a:t>Endometrial Carcinoma (TCGA, GDC)</a:t>
            </a:r>
            <a:endParaRPr sz="1800">
              <a:solidFill>
                <a:srgbClr val="3786C2"/>
              </a:solidFill>
              <a:highlight>
                <a:srgbClr val="F5F5F5"/>
              </a:highlight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09275" y="225075"/>
            <a:ext cx="44631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chemeClr val="dk1"/>
                </a:solidFill>
              </a:rPr>
              <a:t>Database selected: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00" y="1669650"/>
            <a:ext cx="3127601" cy="2346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941025" y="1075250"/>
            <a:ext cx="101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Context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271650" y="1536950"/>
            <a:ext cx="5759100" cy="3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Endometrial cancer </a:t>
            </a:r>
            <a:r>
              <a:rPr lang="fr" sz="1300">
                <a:solidFill>
                  <a:schemeClr val="dk1"/>
                </a:solidFill>
              </a:rPr>
              <a:t>originates from the uterine lining</a:t>
            </a:r>
            <a:r>
              <a:rPr lang="fr" sz="1100">
                <a:solidFill>
                  <a:schemeClr val="dk1"/>
                </a:solidFill>
              </a:rPr>
              <a:t> (endometrium).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It is the </a:t>
            </a:r>
            <a:r>
              <a:rPr b="1" lang="fr" sz="1200">
                <a:solidFill>
                  <a:schemeClr val="dk1"/>
                </a:solidFill>
              </a:rPr>
              <a:t>4th</a:t>
            </a:r>
            <a:r>
              <a:rPr lang="fr" sz="1200">
                <a:solidFill>
                  <a:schemeClr val="dk1"/>
                </a:solidFill>
              </a:rPr>
              <a:t> most common cancer</a:t>
            </a:r>
            <a:r>
              <a:rPr lang="fr" sz="1100">
                <a:solidFill>
                  <a:schemeClr val="dk1"/>
                </a:solidFill>
              </a:rPr>
              <a:t> in women in the United States.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Endometrial cancers are broadly classified into two main types:</a:t>
            </a:r>
            <a:br>
              <a:rPr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-</a:t>
            </a:r>
            <a:r>
              <a:rPr lang="fr" sz="1100" u="sng">
                <a:solidFill>
                  <a:schemeClr val="dk1"/>
                </a:solidFill>
              </a:rPr>
              <a:t>Type I</a:t>
            </a:r>
            <a:r>
              <a:rPr lang="fr" sz="1100">
                <a:solidFill>
                  <a:schemeClr val="dk1"/>
                </a:solidFill>
              </a:rPr>
              <a:t> (endometrioid): associated with estrogen excess, obesity, hormone-receptor positivity, and a favorable prognosis.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-</a:t>
            </a:r>
            <a:r>
              <a:rPr lang="fr" sz="1100" u="sng">
                <a:solidFill>
                  <a:schemeClr val="dk1"/>
                </a:solidFill>
              </a:rPr>
              <a:t>Type II</a:t>
            </a:r>
            <a:r>
              <a:rPr lang="fr" sz="1100">
                <a:solidFill>
                  <a:schemeClr val="dk1"/>
                </a:solidFill>
              </a:rPr>
              <a:t> (mainly serous): more frequent in older, non-obese women and associated with a poorer prognosis.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Treatment differs by subtype:</a:t>
            </a:r>
            <a:br>
              <a:rPr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-Early-stage endometrioid tumors are commonly treated with </a:t>
            </a:r>
            <a:r>
              <a:rPr lang="fr" sz="1100" u="sng">
                <a:solidFill>
                  <a:schemeClr val="dk1"/>
                </a:solidFill>
              </a:rPr>
              <a:t>adjuvant radiotherapy</a:t>
            </a:r>
            <a:r>
              <a:rPr lang="fr" sz="1100">
                <a:solidFill>
                  <a:schemeClr val="dk1"/>
                </a:solidFill>
              </a:rPr>
              <a:t>.</a:t>
            </a:r>
            <a:br>
              <a:rPr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-Serous tumors and advanced-stage cancers are mainly treated with </a:t>
            </a:r>
            <a:r>
              <a:rPr lang="fr" sz="1100" u="sng">
                <a:solidFill>
                  <a:schemeClr val="dk1"/>
                </a:solidFill>
              </a:rPr>
              <a:t>chemotherapy</a:t>
            </a:r>
            <a:r>
              <a:rPr lang="f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5" name="Google Shape;65;p14"/>
          <p:cNvCxnSpPr/>
          <p:nvPr/>
        </p:nvCxnSpPr>
        <p:spPr>
          <a:xfrm rot="10800000">
            <a:off x="2049500" y="2589200"/>
            <a:ext cx="369300" cy="55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62475" y="-89125"/>
            <a:ext cx="450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General overview of the data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7846"/>
            <a:ext cx="9144000" cy="482565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713700" y="-25825"/>
            <a:ext cx="29994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rgbClr val="000000"/>
                </a:solidFill>
                <a:highlight>
                  <a:srgbClr val="FFFF00"/>
                </a:highlight>
              </a:rPr>
              <a:t>544 patients, 545 samples</a:t>
            </a:r>
            <a:endParaRPr sz="190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618300" y="40567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u="sng">
                <a:solidFill>
                  <a:schemeClr val="hlink"/>
                </a:solidFill>
                <a:hlinkClick r:id="rId4"/>
              </a:rPr>
              <a:t>cBioPortal for Cancer Genomics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151625" y="59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20" u="sng">
                <a:solidFill>
                  <a:srgbClr val="000000"/>
                </a:solidFill>
              </a:rPr>
              <a:t>Research Question: </a:t>
            </a:r>
            <a:r>
              <a:rPr i="1" lang="fr" sz="1720">
                <a:solidFill>
                  <a:srgbClr val="000000"/>
                </a:solidFill>
              </a:rPr>
              <a:t>Can the clinical evolution of a patient be predicted from the outcomes of their ten nearest neighbors in transcriptomic space?</a:t>
            </a:r>
            <a:endParaRPr i="1" sz="172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7080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00"/>
                </a:solidFill>
              </a:rPr>
              <a:t>→ Comparer des patients entre eux dans un espace qui résume toute l’expression génique, sans écraser l’information.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00"/>
                </a:solidFill>
              </a:rPr>
              <a:t>Données: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00"/>
                </a:solidFill>
              </a:rPr>
              <a:t>X= expression RNA-seq (matrix patients x genes)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00"/>
                </a:solidFill>
              </a:rPr>
              <a:t>Y= clinical evolution (</a:t>
            </a:r>
            <a:r>
              <a:rPr lang="fr" sz="900"/>
              <a:t>survival status</a:t>
            </a:r>
            <a:r>
              <a:rPr lang="fr" sz="900">
                <a:solidFill>
                  <a:srgbClr val="000000"/>
                </a:solidFill>
              </a:rPr>
              <a:t>, </a:t>
            </a:r>
            <a:r>
              <a:rPr lang="fr" sz="900"/>
              <a:t>stage,... overtime) </a:t>
            </a:r>
            <a:r>
              <a:rPr lang="fr" sz="900">
                <a:solidFill>
                  <a:srgbClr val="000000"/>
                </a:solidFill>
              </a:rPr>
              <a:t> </a:t>
            </a:r>
            <a:endParaRPr sz="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520150" y="1098200"/>
            <a:ext cx="2250000" cy="98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000000"/>
                </a:solidFill>
              </a:rPr>
              <a:t>TPM → Z-score par gène</a:t>
            </a:r>
            <a:endParaRPr sz="700">
              <a:solidFill>
                <a:srgbClr val="000000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lang="fr" sz="700">
                <a:solidFill>
                  <a:srgbClr val="000000"/>
                </a:solidFill>
              </a:rPr>
              <a:t>Chaque gène a :</a:t>
            </a:r>
            <a:endParaRPr sz="700">
              <a:solidFill>
                <a:srgbClr val="000000"/>
              </a:solidFill>
            </a:endParaRPr>
          </a:p>
          <a:p>
            <a:pPr indent="-273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</a:pPr>
            <a:r>
              <a:rPr lang="fr" sz="700">
                <a:solidFill>
                  <a:srgbClr val="000000"/>
                </a:solidFill>
              </a:rPr>
              <a:t>moyenne = 0</a:t>
            </a:r>
            <a:endParaRPr sz="700">
              <a:solidFill>
                <a:srgbClr val="000000"/>
              </a:solidFill>
            </a:endParaRPr>
          </a:p>
          <a:p>
            <a:pPr indent="-2730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</a:pPr>
            <a:r>
              <a:rPr lang="fr" sz="700">
                <a:solidFill>
                  <a:srgbClr val="000000"/>
                </a:solidFill>
              </a:rPr>
              <a:t>écart-type = 1</a:t>
            </a:r>
            <a:br>
              <a:rPr lang="fr" sz="700">
                <a:solidFill>
                  <a:srgbClr val="000000"/>
                </a:solidFill>
              </a:rPr>
            </a:br>
            <a:endParaRPr sz="700">
              <a:solidFill>
                <a:srgbClr val="000000"/>
              </a:solidFill>
            </a:endParaRPr>
          </a:p>
          <a:p>
            <a:pPr indent="-273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lang="fr" sz="700">
                <a:solidFill>
                  <a:srgbClr val="000000"/>
                </a:solidFill>
              </a:rPr>
              <a:t>Tous les gènes sont sur la même échelle</a:t>
            </a:r>
            <a:endParaRPr sz="700">
              <a:solidFill>
                <a:srgbClr val="000000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61508" l="0" r="79669" t="0"/>
          <a:stretch/>
        </p:blipFill>
        <p:spPr>
          <a:xfrm>
            <a:off x="6840325" y="834850"/>
            <a:ext cx="2146326" cy="14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325" y="2189500"/>
            <a:ext cx="7679200" cy="28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311700" y="105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rgbClr val="000000"/>
                </a:solidFill>
              </a:rPr>
              <a:t>Methodological approach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717325"/>
            <a:ext cx="8520600" cy="4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fr" sz="1800">
                <a:solidFill>
                  <a:srgbClr val="595959"/>
                </a:solidFill>
              </a:rPr>
              <a:t>Data preprocessing (QC+normalisation)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fr" sz="1800">
                <a:solidFill>
                  <a:srgbClr val="595959"/>
                </a:solidFill>
              </a:rPr>
              <a:t>Split Train/ val/ test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fr" sz="1800">
                <a:solidFill>
                  <a:srgbClr val="595959"/>
                </a:solidFill>
              </a:rPr>
              <a:t>Autoencoder training (latent space learning)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fr" sz="1800">
                <a:solidFill>
                  <a:srgbClr val="595959"/>
                </a:solidFill>
              </a:rPr>
              <a:t>Construct 10 nearest neighbors predictor in latent space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fr" sz="1800">
                <a:solidFill>
                  <a:srgbClr val="595959"/>
                </a:solidFill>
              </a:rPr>
              <a:t>Evaluation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70175" y="7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Feedback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228150" y="701300"/>
            <a:ext cx="8795400" cy="38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-pourquoi un patient 2 samples? (545 samples pour 544 patients)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-question liée au signal, est-ce qu’il y a une différence dans les données? en regardant dans le type de disease, dans le stage, … 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-Avoir une idée claire sur la quantité de signal pour chacune des questions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-qu’est-ce qui différencie cet échantillon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-est-ce que c’est hétérogène sur les profils transcriptomique: pca, clustering,... est-ce que c’est séparé ou au milieu?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-peu importe si différence, il faut commencer par regarder de manière simple si hétérogène ou pas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-analyse cinetique: overtime → un peu ambitieu mais intéressant, peut- être pas trouver de résultat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-mRNA expression plutôt que Z-score, plus sûr (tgca biolinks R packages pour télécharger données et métadonnées)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-on peut faire le prepocessing sur R et ensuite importer sur python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-faire un système de prédiction d’abord avec étape features sélection dans data processing (faire qq umap, pca), basée sur un test différentiel (ex ANOVA)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-autoencodeur peut être fait en amont avant même l’espace latent, regarder umap/pca/cluster avant et après (partie autoencodeur la plus subtile)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-partir sur prédiction au début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-coupler le système de prédiction et de se connecter à l’espace latent.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-commencer par les choses simples puis construire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-déjà malade/pas malade est-ce que avec Keras on va être capable de prédire 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-différents disease types: est-ce que le NN peut capturer ça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fr" sz="650"/>
              <a:t>-essayer de faire un système de classification MLP pour classer avec les trois types</a:t>
            </a:r>
            <a:endParaRPr sz="6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fr" sz="650"/>
              <a:t>-et en plus on déroule notre pipeline</a:t>
            </a:r>
            <a:endParaRPr sz="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